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Arial Bold" panose="020B0704020202020204" pitchFamily="34" charset="0"/>
      <p:bold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3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4.svg"/><Relationship Id="rId7" Type="http://schemas.openxmlformats.org/officeDocument/2006/relationships/image" Target="../media/image12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svg"/><Relationship Id="rId7" Type="http://schemas.openxmlformats.org/officeDocument/2006/relationships/image" Target="../media/image1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6.svg"/><Relationship Id="rId5" Type="http://schemas.openxmlformats.org/officeDocument/2006/relationships/image" Target="../media/image4.svg"/><Relationship Id="rId10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svg"/><Relationship Id="rId7" Type="http://schemas.openxmlformats.org/officeDocument/2006/relationships/image" Target="../media/image1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6.svg"/><Relationship Id="rId5" Type="http://schemas.openxmlformats.org/officeDocument/2006/relationships/image" Target="../media/image4.svg"/><Relationship Id="rId10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6.svg"/><Relationship Id="rId3" Type="http://schemas.openxmlformats.org/officeDocument/2006/relationships/image" Target="../media/image4.svg"/><Relationship Id="rId7" Type="http://schemas.openxmlformats.org/officeDocument/2006/relationships/image" Target="../media/image18.svg"/><Relationship Id="rId12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0.svg"/><Relationship Id="rId5" Type="http://schemas.openxmlformats.org/officeDocument/2006/relationships/image" Target="../media/image2.svg"/><Relationship Id="rId10" Type="http://schemas.openxmlformats.org/officeDocument/2006/relationships/image" Target="../media/image5.png"/><Relationship Id="rId4" Type="http://schemas.openxmlformats.org/officeDocument/2006/relationships/image" Target="../media/image1.png"/><Relationship Id="rId9" Type="http://schemas.openxmlformats.org/officeDocument/2006/relationships/image" Target="../media/image2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10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openxmlformats.org/officeDocument/2006/relationships/image" Target="../media/image22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10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25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svg"/><Relationship Id="rId7" Type="http://schemas.openxmlformats.org/officeDocument/2006/relationships/image" Target="../media/image2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6.svg"/><Relationship Id="rId5" Type="http://schemas.openxmlformats.org/officeDocument/2006/relationships/image" Target="../media/image4.svg"/><Relationship Id="rId10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29.svg"/><Relationship Id="rId4" Type="http://schemas.openxmlformats.org/officeDocument/2006/relationships/image" Target="../media/image2.png"/><Relationship Id="rId9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svg"/><Relationship Id="rId7" Type="http://schemas.openxmlformats.org/officeDocument/2006/relationships/image" Target="../media/image2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6.svg"/><Relationship Id="rId5" Type="http://schemas.openxmlformats.org/officeDocument/2006/relationships/image" Target="../media/image4.svg"/><Relationship Id="rId10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0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16.sv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svg"/><Relationship Id="rId7" Type="http://schemas.openxmlformats.org/officeDocument/2006/relationships/image" Target="../media/image2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6.svg"/><Relationship Id="rId5" Type="http://schemas.openxmlformats.org/officeDocument/2006/relationships/image" Target="../media/image4.svg"/><Relationship Id="rId10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0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19.png"/><Relationship Id="rId4" Type="http://schemas.openxmlformats.org/officeDocument/2006/relationships/image" Target="../media/image2.png"/><Relationship Id="rId9" Type="http://schemas.openxmlformats.org/officeDocument/2006/relationships/image" Target="../media/image32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svg"/><Relationship Id="rId7" Type="http://schemas.openxmlformats.org/officeDocument/2006/relationships/image" Target="../media/image2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6.svg"/><Relationship Id="rId5" Type="http://schemas.openxmlformats.org/officeDocument/2006/relationships/image" Target="../media/image4.svg"/><Relationship Id="rId10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0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svg"/><Relationship Id="rId7" Type="http://schemas.openxmlformats.org/officeDocument/2006/relationships/image" Target="../media/image2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6.svg"/><Relationship Id="rId5" Type="http://schemas.openxmlformats.org/officeDocument/2006/relationships/image" Target="../media/image4.svg"/><Relationship Id="rId10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0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svg"/><Relationship Id="rId7" Type="http://schemas.openxmlformats.org/officeDocument/2006/relationships/image" Target="../media/image3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6.svg"/><Relationship Id="rId5" Type="http://schemas.openxmlformats.org/officeDocument/2006/relationships/image" Target="../media/image4.svg"/><Relationship Id="rId10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E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73186" y="-882247"/>
            <a:ext cx="17240730" cy="14607600"/>
          </a:xfrm>
          <a:custGeom>
            <a:avLst/>
            <a:gdLst/>
            <a:ahLst/>
            <a:cxnLst/>
            <a:rect l="l" t="t" r="r" b="b"/>
            <a:pathLst>
              <a:path w="17240730" h="14607600">
                <a:moveTo>
                  <a:pt x="0" y="0"/>
                </a:moveTo>
                <a:lnTo>
                  <a:pt x="17240729" y="0"/>
                </a:lnTo>
                <a:lnTo>
                  <a:pt x="17240729" y="14607600"/>
                </a:lnTo>
                <a:lnTo>
                  <a:pt x="0" y="14607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822958">
            <a:off x="7446216" y="-1175426"/>
            <a:ext cx="16072061" cy="11601106"/>
          </a:xfrm>
          <a:custGeom>
            <a:avLst/>
            <a:gdLst/>
            <a:ahLst/>
            <a:cxnLst/>
            <a:rect l="l" t="t" r="r" b="b"/>
            <a:pathLst>
              <a:path w="16072061" h="11601106">
                <a:moveTo>
                  <a:pt x="0" y="0"/>
                </a:moveTo>
                <a:lnTo>
                  <a:pt x="16072061" y="0"/>
                </a:lnTo>
                <a:lnTo>
                  <a:pt x="16072061" y="11601105"/>
                </a:lnTo>
                <a:lnTo>
                  <a:pt x="0" y="116011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5000"/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319911" y="6213323"/>
            <a:ext cx="3050862" cy="1736218"/>
          </a:xfrm>
          <a:custGeom>
            <a:avLst/>
            <a:gdLst/>
            <a:ahLst/>
            <a:cxnLst/>
            <a:rect l="l" t="t" r="r" b="b"/>
            <a:pathLst>
              <a:path w="3050862" h="1736218">
                <a:moveTo>
                  <a:pt x="0" y="0"/>
                </a:moveTo>
                <a:lnTo>
                  <a:pt x="3050862" y="0"/>
                </a:lnTo>
                <a:lnTo>
                  <a:pt x="3050862" y="1736218"/>
                </a:lnTo>
                <a:lnTo>
                  <a:pt x="0" y="17362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4000"/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1723187"/>
            <a:ext cx="8498111" cy="8980273"/>
          </a:xfrm>
          <a:custGeom>
            <a:avLst/>
            <a:gdLst/>
            <a:ahLst/>
            <a:cxnLst/>
            <a:rect l="l" t="t" r="r" b="b"/>
            <a:pathLst>
              <a:path w="8498111" h="8980273">
                <a:moveTo>
                  <a:pt x="0" y="0"/>
                </a:moveTo>
                <a:lnTo>
                  <a:pt x="8498111" y="0"/>
                </a:lnTo>
                <a:lnTo>
                  <a:pt x="8498111" y="8980273"/>
                </a:lnTo>
                <a:lnTo>
                  <a:pt x="0" y="89802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105828" y="1295440"/>
            <a:ext cx="1777054" cy="1444596"/>
          </a:xfrm>
          <a:custGeom>
            <a:avLst/>
            <a:gdLst/>
            <a:ahLst/>
            <a:cxnLst/>
            <a:rect l="l" t="t" r="r" b="b"/>
            <a:pathLst>
              <a:path w="1777054" h="1444596">
                <a:moveTo>
                  <a:pt x="0" y="0"/>
                </a:moveTo>
                <a:lnTo>
                  <a:pt x="1777054" y="0"/>
                </a:lnTo>
                <a:lnTo>
                  <a:pt x="1777054" y="1444596"/>
                </a:lnTo>
                <a:lnTo>
                  <a:pt x="0" y="14445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139209" y="1932288"/>
            <a:ext cx="9991293" cy="2468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844"/>
              </a:lnSpc>
            </a:pPr>
            <a:r>
              <a:rPr lang="en-US" sz="14174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MEDICAL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139209" y="4153525"/>
            <a:ext cx="9120091" cy="5608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4813"/>
              </a:lnSpc>
            </a:pPr>
            <a:r>
              <a:rPr lang="en-US" sz="10581" b="1" spc="56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Healthcare</a:t>
            </a:r>
          </a:p>
          <a:p>
            <a:pPr algn="just">
              <a:lnSpc>
                <a:spcPts val="14813"/>
              </a:lnSpc>
            </a:pPr>
            <a:r>
              <a:rPr lang="en-US" sz="10581" b="1" spc="56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Analysis Dashboard</a:t>
            </a:r>
          </a:p>
        </p:txBody>
      </p:sp>
      <p:sp>
        <p:nvSpPr>
          <p:cNvPr id="9" name="Freeform 9"/>
          <p:cNvSpPr/>
          <p:nvPr/>
        </p:nvSpPr>
        <p:spPr>
          <a:xfrm>
            <a:off x="1028700" y="753393"/>
            <a:ext cx="1704110" cy="969794"/>
          </a:xfrm>
          <a:custGeom>
            <a:avLst/>
            <a:gdLst/>
            <a:ahLst/>
            <a:cxnLst/>
            <a:rect l="l" t="t" r="r" b="b"/>
            <a:pathLst>
              <a:path w="1704110" h="969794">
                <a:moveTo>
                  <a:pt x="0" y="0"/>
                </a:moveTo>
                <a:lnTo>
                  <a:pt x="1704110" y="0"/>
                </a:lnTo>
                <a:lnTo>
                  <a:pt x="1704110" y="969794"/>
                </a:lnTo>
                <a:lnTo>
                  <a:pt x="0" y="9697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4000"/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E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737974">
            <a:off x="553082" y="-164797"/>
            <a:ext cx="18170848" cy="10792839"/>
          </a:xfrm>
          <a:custGeom>
            <a:avLst/>
            <a:gdLst/>
            <a:ahLst/>
            <a:cxnLst/>
            <a:rect l="l" t="t" r="r" b="b"/>
            <a:pathLst>
              <a:path w="15120246" h="10914068">
                <a:moveTo>
                  <a:pt x="0" y="0"/>
                </a:moveTo>
                <a:lnTo>
                  <a:pt x="15120245" y="0"/>
                </a:lnTo>
                <a:lnTo>
                  <a:pt x="15120245" y="10914068"/>
                </a:lnTo>
                <a:lnTo>
                  <a:pt x="0" y="109140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528866" y="519811"/>
            <a:ext cx="14759134" cy="12505012"/>
          </a:xfrm>
          <a:custGeom>
            <a:avLst/>
            <a:gdLst/>
            <a:ahLst/>
            <a:cxnLst/>
            <a:rect l="l" t="t" r="r" b="b"/>
            <a:pathLst>
              <a:path w="14759134" h="12505012">
                <a:moveTo>
                  <a:pt x="0" y="0"/>
                </a:moveTo>
                <a:lnTo>
                  <a:pt x="14759134" y="0"/>
                </a:lnTo>
                <a:lnTo>
                  <a:pt x="14759134" y="12505012"/>
                </a:lnTo>
                <a:lnTo>
                  <a:pt x="0" y="125050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0"/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1694473"/>
            <a:ext cx="8827455" cy="7737525"/>
          </a:xfrm>
          <a:custGeom>
            <a:avLst/>
            <a:gdLst/>
            <a:ahLst/>
            <a:cxnLst/>
            <a:rect l="l" t="t" r="r" b="b"/>
            <a:pathLst>
              <a:path w="8827455" h="7737525">
                <a:moveTo>
                  <a:pt x="0" y="0"/>
                </a:moveTo>
                <a:lnTo>
                  <a:pt x="8827455" y="0"/>
                </a:lnTo>
                <a:lnTo>
                  <a:pt x="8827455" y="7737525"/>
                </a:lnTo>
                <a:lnTo>
                  <a:pt x="0" y="77375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813866" y="297325"/>
            <a:ext cx="2455053" cy="1397148"/>
          </a:xfrm>
          <a:custGeom>
            <a:avLst/>
            <a:gdLst/>
            <a:ahLst/>
            <a:cxnLst/>
            <a:rect l="l" t="t" r="r" b="b"/>
            <a:pathLst>
              <a:path w="2455053" h="1397148">
                <a:moveTo>
                  <a:pt x="0" y="0"/>
                </a:moveTo>
                <a:lnTo>
                  <a:pt x="2455052" y="0"/>
                </a:lnTo>
                <a:lnTo>
                  <a:pt x="2455052" y="1397148"/>
                </a:lnTo>
                <a:lnTo>
                  <a:pt x="0" y="139714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4000"/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7259300" y="8987961"/>
            <a:ext cx="1560511" cy="888072"/>
          </a:xfrm>
          <a:custGeom>
            <a:avLst/>
            <a:gdLst/>
            <a:ahLst/>
            <a:cxnLst/>
            <a:rect l="l" t="t" r="r" b="b"/>
            <a:pathLst>
              <a:path w="1560511" h="888072">
                <a:moveTo>
                  <a:pt x="0" y="0"/>
                </a:moveTo>
                <a:lnTo>
                  <a:pt x="1560511" y="0"/>
                </a:lnTo>
                <a:lnTo>
                  <a:pt x="1560511" y="888073"/>
                </a:lnTo>
                <a:lnTo>
                  <a:pt x="0" y="8880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4000"/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741568" y="2453225"/>
            <a:ext cx="9006146" cy="118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520"/>
              </a:lnSpc>
            </a:pPr>
            <a:r>
              <a:rPr lang="en-US" sz="6800" b="1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Acknowledgement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229982" y="4271229"/>
            <a:ext cx="8029318" cy="4000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274"/>
              </a:lnSpc>
            </a:pPr>
            <a:r>
              <a:rPr lang="en-US" sz="3767" b="1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I would like to express my deepest gratitude to DK sir, for the invaluable guidance, feedback, and constant encouragement throughout the duration of this project.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385E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272750" y="-1185886"/>
            <a:ext cx="17240730" cy="14607600"/>
          </a:xfrm>
          <a:custGeom>
            <a:avLst/>
            <a:gdLst/>
            <a:ahLst/>
            <a:cxnLst/>
            <a:rect l="l" t="t" r="r" b="b"/>
            <a:pathLst>
              <a:path w="17240730" h="14607600">
                <a:moveTo>
                  <a:pt x="0" y="0"/>
                </a:moveTo>
                <a:lnTo>
                  <a:pt x="17240730" y="0"/>
                </a:lnTo>
                <a:lnTo>
                  <a:pt x="17240730" y="14607600"/>
                </a:lnTo>
                <a:lnTo>
                  <a:pt x="0" y="14607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0022137">
            <a:off x="3114542" y="536167"/>
            <a:ext cx="16723353" cy="12071220"/>
          </a:xfrm>
          <a:custGeom>
            <a:avLst/>
            <a:gdLst/>
            <a:ahLst/>
            <a:cxnLst/>
            <a:rect l="l" t="t" r="r" b="b"/>
            <a:pathLst>
              <a:path w="16723353" h="12071220">
                <a:moveTo>
                  <a:pt x="0" y="0"/>
                </a:moveTo>
                <a:lnTo>
                  <a:pt x="16723353" y="0"/>
                </a:lnTo>
                <a:lnTo>
                  <a:pt x="16723353" y="12071220"/>
                </a:lnTo>
                <a:lnTo>
                  <a:pt x="0" y="120712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5000"/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2146248"/>
            <a:ext cx="5968328" cy="8283627"/>
          </a:xfrm>
          <a:custGeom>
            <a:avLst/>
            <a:gdLst/>
            <a:ahLst/>
            <a:cxnLst/>
            <a:rect l="l" t="t" r="r" b="b"/>
            <a:pathLst>
              <a:path w="5968328" h="8283627">
                <a:moveTo>
                  <a:pt x="0" y="0"/>
                </a:moveTo>
                <a:lnTo>
                  <a:pt x="5968328" y="0"/>
                </a:lnTo>
                <a:lnTo>
                  <a:pt x="5968328" y="8283627"/>
                </a:lnTo>
                <a:lnTo>
                  <a:pt x="0" y="82836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878511" y="2982458"/>
            <a:ext cx="9238930" cy="1373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19"/>
              </a:lnSpc>
            </a:pPr>
            <a:r>
              <a:rPr lang="en-US" sz="7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Content Overview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0" y="4640864"/>
            <a:ext cx="7146452" cy="789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69"/>
              </a:lnSpc>
            </a:pPr>
            <a:r>
              <a:rPr lang="en-US" sz="4549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Data Understanding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0" y="5858809"/>
            <a:ext cx="8306529" cy="1191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9"/>
              </a:lnSpc>
            </a:pPr>
            <a:r>
              <a:rPr lang="en-US" sz="4549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Data Cleaning and model creation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0" y="7345964"/>
            <a:ext cx="8080025" cy="620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9"/>
              </a:lnSpc>
            </a:pPr>
            <a:r>
              <a:rPr lang="en-US" sz="4549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Data Analysis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0" y="8394970"/>
            <a:ext cx="8892132" cy="620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9"/>
              </a:lnSpc>
            </a:pPr>
            <a:r>
              <a:rPr lang="en-US" sz="4549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Insights and Recommendations</a:t>
            </a:r>
          </a:p>
        </p:txBody>
      </p:sp>
      <p:sp>
        <p:nvSpPr>
          <p:cNvPr id="10" name="Freeform 10"/>
          <p:cNvSpPr/>
          <p:nvPr/>
        </p:nvSpPr>
        <p:spPr>
          <a:xfrm>
            <a:off x="6179889" y="1578327"/>
            <a:ext cx="1397243" cy="1135842"/>
          </a:xfrm>
          <a:custGeom>
            <a:avLst/>
            <a:gdLst/>
            <a:ahLst/>
            <a:cxnLst/>
            <a:rect l="l" t="t" r="r" b="b"/>
            <a:pathLst>
              <a:path w="1397243" h="1135842">
                <a:moveTo>
                  <a:pt x="0" y="0"/>
                </a:moveTo>
                <a:lnTo>
                  <a:pt x="1397244" y="0"/>
                </a:lnTo>
                <a:lnTo>
                  <a:pt x="1397244" y="1135842"/>
                </a:lnTo>
                <a:lnTo>
                  <a:pt x="0" y="11358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7060474" y="0"/>
            <a:ext cx="2455053" cy="1397148"/>
          </a:xfrm>
          <a:custGeom>
            <a:avLst/>
            <a:gdLst/>
            <a:ahLst/>
            <a:cxnLst/>
            <a:rect l="l" t="t" r="r" b="b"/>
            <a:pathLst>
              <a:path w="2455053" h="1397148">
                <a:moveTo>
                  <a:pt x="0" y="0"/>
                </a:moveTo>
                <a:lnTo>
                  <a:pt x="2455052" y="0"/>
                </a:lnTo>
                <a:lnTo>
                  <a:pt x="2455052" y="1397148"/>
                </a:lnTo>
                <a:lnTo>
                  <a:pt x="0" y="13971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4000"/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481429" y="2367312"/>
            <a:ext cx="2455053" cy="1397148"/>
          </a:xfrm>
          <a:custGeom>
            <a:avLst/>
            <a:gdLst/>
            <a:ahLst/>
            <a:cxnLst/>
            <a:rect l="l" t="t" r="r" b="b"/>
            <a:pathLst>
              <a:path w="2455053" h="1397148">
                <a:moveTo>
                  <a:pt x="0" y="0"/>
                </a:moveTo>
                <a:lnTo>
                  <a:pt x="2455052" y="0"/>
                </a:lnTo>
                <a:lnTo>
                  <a:pt x="2455052" y="1397148"/>
                </a:lnTo>
                <a:lnTo>
                  <a:pt x="0" y="13971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4000"/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973623" y="698574"/>
            <a:ext cx="1227526" cy="698574"/>
          </a:xfrm>
          <a:custGeom>
            <a:avLst/>
            <a:gdLst/>
            <a:ahLst/>
            <a:cxnLst/>
            <a:rect l="l" t="t" r="r" b="b"/>
            <a:pathLst>
              <a:path w="1227526" h="698574">
                <a:moveTo>
                  <a:pt x="0" y="0"/>
                </a:moveTo>
                <a:lnTo>
                  <a:pt x="1227526" y="0"/>
                </a:lnTo>
                <a:lnTo>
                  <a:pt x="1227526" y="698574"/>
                </a:lnTo>
                <a:lnTo>
                  <a:pt x="0" y="69857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4000"/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E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268802">
            <a:off x="-4816841" y="-2332895"/>
            <a:ext cx="19179332" cy="16250125"/>
          </a:xfrm>
          <a:custGeom>
            <a:avLst/>
            <a:gdLst/>
            <a:ahLst/>
            <a:cxnLst/>
            <a:rect l="l" t="t" r="r" b="b"/>
            <a:pathLst>
              <a:path w="19179332" h="16250125">
                <a:moveTo>
                  <a:pt x="0" y="0"/>
                </a:moveTo>
                <a:lnTo>
                  <a:pt x="19179332" y="0"/>
                </a:lnTo>
                <a:lnTo>
                  <a:pt x="19179332" y="16250125"/>
                </a:lnTo>
                <a:lnTo>
                  <a:pt x="0" y="162501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9991050">
            <a:off x="-4938072" y="-1206000"/>
            <a:ext cx="16723353" cy="12071220"/>
          </a:xfrm>
          <a:custGeom>
            <a:avLst/>
            <a:gdLst/>
            <a:ahLst/>
            <a:cxnLst/>
            <a:rect l="l" t="t" r="r" b="b"/>
            <a:pathLst>
              <a:path w="16723353" h="12071220">
                <a:moveTo>
                  <a:pt x="0" y="0"/>
                </a:moveTo>
                <a:lnTo>
                  <a:pt x="16723353" y="0"/>
                </a:lnTo>
                <a:lnTo>
                  <a:pt x="16723353" y="12071220"/>
                </a:lnTo>
                <a:lnTo>
                  <a:pt x="0" y="120712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5000"/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879832" y="1686531"/>
            <a:ext cx="6813203" cy="8600469"/>
          </a:xfrm>
          <a:custGeom>
            <a:avLst/>
            <a:gdLst/>
            <a:ahLst/>
            <a:cxnLst/>
            <a:rect l="l" t="t" r="r" b="b"/>
            <a:pathLst>
              <a:path w="6813203" h="8600469">
                <a:moveTo>
                  <a:pt x="0" y="0"/>
                </a:moveTo>
                <a:lnTo>
                  <a:pt x="6813203" y="0"/>
                </a:lnTo>
                <a:lnTo>
                  <a:pt x="6813203" y="8600469"/>
                </a:lnTo>
                <a:lnTo>
                  <a:pt x="0" y="86004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418978" y="838200"/>
            <a:ext cx="9303988" cy="2754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19"/>
              </a:lnSpc>
            </a:pPr>
            <a:r>
              <a:rPr lang="en-US" sz="7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 used for the Analysis: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74617" y="4575355"/>
            <a:ext cx="10283898" cy="2698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06162" lvl="1" indent="-553081" algn="just">
              <a:lnSpc>
                <a:spcPts val="7172"/>
              </a:lnSpc>
              <a:buFont typeface="Arial"/>
              <a:buChar char="•"/>
            </a:pPr>
            <a:r>
              <a:rPr lang="en-US" sz="512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Microsoft Excel</a:t>
            </a:r>
          </a:p>
          <a:p>
            <a:pPr marL="1106162" lvl="1" indent="-553081" algn="just">
              <a:lnSpc>
                <a:spcPts val="7172"/>
              </a:lnSpc>
              <a:buFont typeface="Arial"/>
              <a:buChar char="•"/>
            </a:pPr>
            <a:r>
              <a:rPr lang="en-US" sz="512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Power BI</a:t>
            </a:r>
          </a:p>
          <a:p>
            <a:pPr marL="1106162" lvl="1" indent="-553081" algn="just">
              <a:lnSpc>
                <a:spcPts val="7172"/>
              </a:lnSpc>
              <a:buFont typeface="Arial"/>
              <a:buChar char="•"/>
            </a:pPr>
            <a:r>
              <a:rPr lang="en-US" sz="512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Microsoft PowerPoint</a:t>
            </a:r>
          </a:p>
        </p:txBody>
      </p:sp>
      <p:sp>
        <p:nvSpPr>
          <p:cNvPr id="7" name="Freeform 7"/>
          <p:cNvSpPr/>
          <p:nvPr/>
        </p:nvSpPr>
        <p:spPr>
          <a:xfrm>
            <a:off x="11558514" y="1471860"/>
            <a:ext cx="1777054" cy="1444596"/>
          </a:xfrm>
          <a:custGeom>
            <a:avLst/>
            <a:gdLst/>
            <a:ahLst/>
            <a:cxnLst/>
            <a:rect l="l" t="t" r="r" b="b"/>
            <a:pathLst>
              <a:path w="1777054" h="1444596">
                <a:moveTo>
                  <a:pt x="0" y="0"/>
                </a:moveTo>
                <a:lnTo>
                  <a:pt x="1777054" y="0"/>
                </a:lnTo>
                <a:lnTo>
                  <a:pt x="1777054" y="1444596"/>
                </a:lnTo>
                <a:lnTo>
                  <a:pt x="0" y="14445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686699" y="74712"/>
            <a:ext cx="2455053" cy="1397148"/>
          </a:xfrm>
          <a:custGeom>
            <a:avLst/>
            <a:gdLst/>
            <a:ahLst/>
            <a:cxnLst/>
            <a:rect l="l" t="t" r="r" b="b"/>
            <a:pathLst>
              <a:path w="2455053" h="1397148">
                <a:moveTo>
                  <a:pt x="0" y="0"/>
                </a:moveTo>
                <a:lnTo>
                  <a:pt x="2455053" y="0"/>
                </a:lnTo>
                <a:lnTo>
                  <a:pt x="2455053" y="1397148"/>
                </a:lnTo>
                <a:lnTo>
                  <a:pt x="0" y="13971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4000"/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167162" y="9772650"/>
            <a:ext cx="1807620" cy="1028700"/>
          </a:xfrm>
          <a:custGeom>
            <a:avLst/>
            <a:gdLst/>
            <a:ahLst/>
            <a:cxnLst/>
            <a:rect l="l" t="t" r="r" b="b"/>
            <a:pathLst>
              <a:path w="1807620" h="1028700">
                <a:moveTo>
                  <a:pt x="0" y="0"/>
                </a:moveTo>
                <a:lnTo>
                  <a:pt x="1807620" y="0"/>
                </a:lnTo>
                <a:lnTo>
                  <a:pt x="180762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4000"/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E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78541">
            <a:off x="-2423596" y="583792"/>
            <a:ext cx="17201471" cy="12416335"/>
          </a:xfrm>
          <a:custGeom>
            <a:avLst/>
            <a:gdLst/>
            <a:ahLst/>
            <a:cxnLst/>
            <a:rect l="l" t="t" r="r" b="b"/>
            <a:pathLst>
              <a:path w="17201471" h="12416335">
                <a:moveTo>
                  <a:pt x="0" y="0"/>
                </a:moveTo>
                <a:lnTo>
                  <a:pt x="17201472" y="0"/>
                </a:lnTo>
                <a:lnTo>
                  <a:pt x="17201472" y="12416335"/>
                </a:lnTo>
                <a:lnTo>
                  <a:pt x="0" y="124163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9987743">
            <a:off x="1302956" y="-484288"/>
            <a:ext cx="15279551" cy="12945947"/>
          </a:xfrm>
          <a:custGeom>
            <a:avLst/>
            <a:gdLst/>
            <a:ahLst/>
            <a:cxnLst/>
            <a:rect l="l" t="t" r="r" b="b"/>
            <a:pathLst>
              <a:path w="15279551" h="12945947">
                <a:moveTo>
                  <a:pt x="0" y="0"/>
                </a:moveTo>
                <a:lnTo>
                  <a:pt x="15279551" y="0"/>
                </a:lnTo>
                <a:lnTo>
                  <a:pt x="15279551" y="12945947"/>
                </a:lnTo>
                <a:lnTo>
                  <a:pt x="0" y="129459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093174" y="3636645"/>
            <a:ext cx="8101652" cy="7146971"/>
          </a:xfrm>
          <a:custGeom>
            <a:avLst/>
            <a:gdLst/>
            <a:ahLst/>
            <a:cxnLst/>
            <a:rect l="l" t="t" r="r" b="b"/>
            <a:pathLst>
              <a:path w="8101652" h="7146971">
                <a:moveTo>
                  <a:pt x="0" y="0"/>
                </a:moveTo>
                <a:lnTo>
                  <a:pt x="8101652" y="0"/>
                </a:lnTo>
                <a:lnTo>
                  <a:pt x="8101652" y="7146971"/>
                </a:lnTo>
                <a:lnTo>
                  <a:pt x="0" y="71469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170746">
            <a:off x="5453401" y="2567967"/>
            <a:ext cx="1721618" cy="486357"/>
          </a:xfrm>
          <a:custGeom>
            <a:avLst/>
            <a:gdLst/>
            <a:ahLst/>
            <a:cxnLst/>
            <a:rect l="l" t="t" r="r" b="b"/>
            <a:pathLst>
              <a:path w="1721618" h="486357">
                <a:moveTo>
                  <a:pt x="0" y="0"/>
                </a:moveTo>
                <a:lnTo>
                  <a:pt x="1721618" y="0"/>
                </a:lnTo>
                <a:lnTo>
                  <a:pt x="1721618" y="486357"/>
                </a:lnTo>
                <a:lnTo>
                  <a:pt x="0" y="4863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384420" y="304118"/>
            <a:ext cx="11519161" cy="1373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19"/>
              </a:lnSpc>
            </a:pPr>
            <a:r>
              <a:rPr lang="en-US" sz="7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all things did I do?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03311" y="1544273"/>
            <a:ext cx="4394817" cy="948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559"/>
              </a:lnSpc>
            </a:pPr>
            <a:r>
              <a:rPr lang="en-US" sz="5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Import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03311" y="2642529"/>
            <a:ext cx="4289863" cy="179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Downloaded and imported the data into Power BI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61736" y="5144135"/>
            <a:ext cx="4636392" cy="948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559"/>
              </a:lnSpc>
            </a:pPr>
            <a:r>
              <a:rPr lang="en-US" sz="5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cleaning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1736" y="6096635"/>
            <a:ext cx="4636392" cy="2712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Used Power Query and DAX to create new columns, measures, and calculated columns,</a:t>
            </a:r>
          </a:p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changed data type etc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562512" y="1773531"/>
            <a:ext cx="4998638" cy="948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559"/>
              </a:lnSpc>
            </a:pPr>
            <a:r>
              <a:rPr lang="en-US" sz="5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Modeling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854931" y="2743835"/>
            <a:ext cx="5008129" cy="179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Created multiple relationships between different tables.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864483" y="5039995"/>
            <a:ext cx="4394817" cy="948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559"/>
              </a:lnSpc>
            </a:pPr>
            <a:r>
              <a:rPr lang="en-US" sz="5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310436" y="6007100"/>
            <a:ext cx="3948864" cy="2999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Pie chart, Donut chart, Pie chart, column charts, line and area charts, filters, etc</a:t>
            </a:r>
          </a:p>
        </p:txBody>
      </p:sp>
      <p:sp>
        <p:nvSpPr>
          <p:cNvPr id="15" name="Freeform 15"/>
          <p:cNvSpPr/>
          <p:nvPr/>
        </p:nvSpPr>
        <p:spPr>
          <a:xfrm rot="10559576" flipH="1">
            <a:off x="10785050" y="2661032"/>
            <a:ext cx="1721618" cy="486357"/>
          </a:xfrm>
          <a:custGeom>
            <a:avLst/>
            <a:gdLst/>
            <a:ahLst/>
            <a:cxnLst/>
            <a:rect l="l" t="t" r="r" b="b"/>
            <a:pathLst>
              <a:path w="1721618" h="486357">
                <a:moveTo>
                  <a:pt x="1721617" y="0"/>
                </a:moveTo>
                <a:lnTo>
                  <a:pt x="0" y="0"/>
                </a:lnTo>
                <a:lnTo>
                  <a:pt x="0" y="486357"/>
                </a:lnTo>
                <a:lnTo>
                  <a:pt x="1721617" y="486357"/>
                </a:lnTo>
                <a:lnTo>
                  <a:pt x="172161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1142865" y="7699571"/>
            <a:ext cx="1721618" cy="486357"/>
          </a:xfrm>
          <a:custGeom>
            <a:avLst/>
            <a:gdLst/>
            <a:ahLst/>
            <a:cxnLst/>
            <a:rect l="l" t="t" r="r" b="b"/>
            <a:pathLst>
              <a:path w="1721618" h="486357">
                <a:moveTo>
                  <a:pt x="0" y="0"/>
                </a:moveTo>
                <a:lnTo>
                  <a:pt x="1721618" y="0"/>
                </a:lnTo>
                <a:lnTo>
                  <a:pt x="1721618" y="486357"/>
                </a:lnTo>
                <a:lnTo>
                  <a:pt x="0" y="4863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10226635" flipV="1">
            <a:off x="4769115" y="7839101"/>
            <a:ext cx="1721618" cy="486357"/>
          </a:xfrm>
          <a:custGeom>
            <a:avLst/>
            <a:gdLst/>
            <a:ahLst/>
            <a:cxnLst/>
            <a:rect l="l" t="t" r="r" b="b"/>
            <a:pathLst>
              <a:path w="1721618" h="486357">
                <a:moveTo>
                  <a:pt x="0" y="486357"/>
                </a:moveTo>
                <a:lnTo>
                  <a:pt x="1721618" y="486357"/>
                </a:lnTo>
                <a:lnTo>
                  <a:pt x="1721618" y="0"/>
                </a:lnTo>
                <a:lnTo>
                  <a:pt x="0" y="0"/>
                </a:lnTo>
                <a:lnTo>
                  <a:pt x="0" y="486357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8287067" y="2500803"/>
            <a:ext cx="1397243" cy="1135842"/>
          </a:xfrm>
          <a:custGeom>
            <a:avLst/>
            <a:gdLst/>
            <a:ahLst/>
            <a:cxnLst/>
            <a:rect l="l" t="t" r="r" b="b"/>
            <a:pathLst>
              <a:path w="1397243" h="1135842">
                <a:moveTo>
                  <a:pt x="0" y="0"/>
                </a:moveTo>
                <a:lnTo>
                  <a:pt x="1397244" y="0"/>
                </a:lnTo>
                <a:lnTo>
                  <a:pt x="1397244" y="1135842"/>
                </a:lnTo>
                <a:lnTo>
                  <a:pt x="0" y="113584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5408008" y="-368448"/>
            <a:ext cx="2455053" cy="1397148"/>
          </a:xfrm>
          <a:custGeom>
            <a:avLst/>
            <a:gdLst/>
            <a:ahLst/>
            <a:cxnLst/>
            <a:rect l="l" t="t" r="r" b="b"/>
            <a:pathLst>
              <a:path w="2455053" h="1397148">
                <a:moveTo>
                  <a:pt x="0" y="0"/>
                </a:moveTo>
                <a:lnTo>
                  <a:pt x="2455053" y="0"/>
                </a:lnTo>
                <a:lnTo>
                  <a:pt x="2455053" y="1397148"/>
                </a:lnTo>
                <a:lnTo>
                  <a:pt x="0" y="139714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54000"/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-787125" y="190229"/>
            <a:ext cx="1574250" cy="895891"/>
          </a:xfrm>
          <a:custGeom>
            <a:avLst/>
            <a:gdLst/>
            <a:ahLst/>
            <a:cxnLst/>
            <a:rect l="l" t="t" r="r" b="b"/>
            <a:pathLst>
              <a:path w="1574250" h="895891">
                <a:moveTo>
                  <a:pt x="0" y="0"/>
                </a:moveTo>
                <a:lnTo>
                  <a:pt x="1574250" y="0"/>
                </a:lnTo>
                <a:lnTo>
                  <a:pt x="1574250" y="895892"/>
                </a:lnTo>
                <a:lnTo>
                  <a:pt x="0" y="89589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54000"/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E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987743">
            <a:off x="-5148051" y="-2289602"/>
            <a:ext cx="19179332" cy="16250125"/>
          </a:xfrm>
          <a:custGeom>
            <a:avLst/>
            <a:gdLst/>
            <a:ahLst/>
            <a:cxnLst/>
            <a:rect l="l" t="t" r="r" b="b"/>
            <a:pathLst>
              <a:path w="19179332" h="16250125">
                <a:moveTo>
                  <a:pt x="0" y="0"/>
                </a:moveTo>
                <a:lnTo>
                  <a:pt x="19179331" y="0"/>
                </a:lnTo>
                <a:lnTo>
                  <a:pt x="19179331" y="16250124"/>
                </a:lnTo>
                <a:lnTo>
                  <a:pt x="0" y="162501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378541">
            <a:off x="-374719" y="-372707"/>
            <a:ext cx="17201471" cy="12416335"/>
          </a:xfrm>
          <a:custGeom>
            <a:avLst/>
            <a:gdLst/>
            <a:ahLst/>
            <a:cxnLst/>
            <a:rect l="l" t="t" r="r" b="b"/>
            <a:pathLst>
              <a:path w="17201471" h="12416335">
                <a:moveTo>
                  <a:pt x="0" y="0"/>
                </a:moveTo>
                <a:lnTo>
                  <a:pt x="17201471" y="0"/>
                </a:lnTo>
                <a:lnTo>
                  <a:pt x="17201471" y="12416334"/>
                </a:lnTo>
                <a:lnTo>
                  <a:pt x="0" y="124163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5000"/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326120" y="9258300"/>
            <a:ext cx="2455053" cy="1397148"/>
          </a:xfrm>
          <a:custGeom>
            <a:avLst/>
            <a:gdLst/>
            <a:ahLst/>
            <a:cxnLst/>
            <a:rect l="l" t="t" r="r" b="b"/>
            <a:pathLst>
              <a:path w="2455053" h="1397148">
                <a:moveTo>
                  <a:pt x="0" y="0"/>
                </a:moveTo>
                <a:lnTo>
                  <a:pt x="2455053" y="0"/>
                </a:lnTo>
                <a:lnTo>
                  <a:pt x="2455053" y="1397148"/>
                </a:lnTo>
                <a:lnTo>
                  <a:pt x="0" y="13971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4000"/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426353" y="2512547"/>
            <a:ext cx="2455053" cy="1397148"/>
          </a:xfrm>
          <a:custGeom>
            <a:avLst/>
            <a:gdLst/>
            <a:ahLst/>
            <a:cxnLst/>
            <a:rect l="l" t="t" r="r" b="b"/>
            <a:pathLst>
              <a:path w="2455053" h="1397148">
                <a:moveTo>
                  <a:pt x="0" y="0"/>
                </a:moveTo>
                <a:lnTo>
                  <a:pt x="2455053" y="0"/>
                </a:lnTo>
                <a:lnTo>
                  <a:pt x="2455053" y="1397148"/>
                </a:lnTo>
                <a:lnTo>
                  <a:pt x="0" y="13971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4000"/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014847" y="1289085"/>
            <a:ext cx="4087093" cy="9092751"/>
          </a:xfrm>
          <a:custGeom>
            <a:avLst/>
            <a:gdLst/>
            <a:ahLst/>
            <a:cxnLst/>
            <a:rect l="l" t="t" r="r" b="b"/>
            <a:pathLst>
              <a:path w="4087093" h="9092751">
                <a:moveTo>
                  <a:pt x="0" y="0"/>
                </a:moveTo>
                <a:lnTo>
                  <a:pt x="4087094" y="0"/>
                </a:lnTo>
                <a:lnTo>
                  <a:pt x="4087094" y="9092750"/>
                </a:lnTo>
                <a:lnTo>
                  <a:pt x="0" y="90927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230251" y="1289085"/>
            <a:ext cx="15547604" cy="8667789"/>
          </a:xfrm>
          <a:custGeom>
            <a:avLst/>
            <a:gdLst/>
            <a:ahLst/>
            <a:cxnLst/>
            <a:rect l="l" t="t" r="r" b="b"/>
            <a:pathLst>
              <a:path w="15547604" h="8667789">
                <a:moveTo>
                  <a:pt x="0" y="0"/>
                </a:moveTo>
                <a:lnTo>
                  <a:pt x="15547604" y="0"/>
                </a:lnTo>
                <a:lnTo>
                  <a:pt x="15547604" y="8667789"/>
                </a:lnTo>
                <a:lnTo>
                  <a:pt x="0" y="866778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506255" y="96523"/>
            <a:ext cx="15245846" cy="932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20"/>
              </a:lnSpc>
            </a:pPr>
            <a:r>
              <a:rPr lang="en-US" sz="53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Healthcare Analysis Executive Overview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E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987743">
            <a:off x="-5148051" y="-2289602"/>
            <a:ext cx="19179332" cy="16250125"/>
          </a:xfrm>
          <a:custGeom>
            <a:avLst/>
            <a:gdLst/>
            <a:ahLst/>
            <a:cxnLst/>
            <a:rect l="l" t="t" r="r" b="b"/>
            <a:pathLst>
              <a:path w="19179332" h="16250125">
                <a:moveTo>
                  <a:pt x="0" y="0"/>
                </a:moveTo>
                <a:lnTo>
                  <a:pt x="19179331" y="0"/>
                </a:lnTo>
                <a:lnTo>
                  <a:pt x="19179331" y="16250124"/>
                </a:lnTo>
                <a:lnTo>
                  <a:pt x="0" y="162501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378541">
            <a:off x="-374719" y="-372707"/>
            <a:ext cx="17201471" cy="12416335"/>
          </a:xfrm>
          <a:custGeom>
            <a:avLst/>
            <a:gdLst/>
            <a:ahLst/>
            <a:cxnLst/>
            <a:rect l="l" t="t" r="r" b="b"/>
            <a:pathLst>
              <a:path w="17201471" h="12416335">
                <a:moveTo>
                  <a:pt x="0" y="0"/>
                </a:moveTo>
                <a:lnTo>
                  <a:pt x="17201471" y="0"/>
                </a:lnTo>
                <a:lnTo>
                  <a:pt x="17201471" y="12416334"/>
                </a:lnTo>
                <a:lnTo>
                  <a:pt x="0" y="124163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5000"/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326120" y="9258300"/>
            <a:ext cx="2455053" cy="1397148"/>
          </a:xfrm>
          <a:custGeom>
            <a:avLst/>
            <a:gdLst/>
            <a:ahLst/>
            <a:cxnLst/>
            <a:rect l="l" t="t" r="r" b="b"/>
            <a:pathLst>
              <a:path w="2455053" h="1397148">
                <a:moveTo>
                  <a:pt x="0" y="0"/>
                </a:moveTo>
                <a:lnTo>
                  <a:pt x="2455053" y="0"/>
                </a:lnTo>
                <a:lnTo>
                  <a:pt x="2455053" y="1397148"/>
                </a:lnTo>
                <a:lnTo>
                  <a:pt x="0" y="13971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4000"/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426353" y="2512547"/>
            <a:ext cx="2455053" cy="1397148"/>
          </a:xfrm>
          <a:custGeom>
            <a:avLst/>
            <a:gdLst/>
            <a:ahLst/>
            <a:cxnLst/>
            <a:rect l="l" t="t" r="r" b="b"/>
            <a:pathLst>
              <a:path w="2455053" h="1397148">
                <a:moveTo>
                  <a:pt x="0" y="0"/>
                </a:moveTo>
                <a:lnTo>
                  <a:pt x="2455053" y="0"/>
                </a:lnTo>
                <a:lnTo>
                  <a:pt x="2455053" y="1397148"/>
                </a:lnTo>
                <a:lnTo>
                  <a:pt x="0" y="13971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4000"/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5556608" y="1302942"/>
            <a:ext cx="3405384" cy="9065035"/>
          </a:xfrm>
          <a:custGeom>
            <a:avLst/>
            <a:gdLst/>
            <a:ahLst/>
            <a:cxnLst/>
            <a:rect l="l" t="t" r="r" b="b"/>
            <a:pathLst>
              <a:path w="3405384" h="9065035">
                <a:moveTo>
                  <a:pt x="3405384" y="0"/>
                </a:moveTo>
                <a:lnTo>
                  <a:pt x="0" y="0"/>
                </a:lnTo>
                <a:lnTo>
                  <a:pt x="0" y="9065036"/>
                </a:lnTo>
                <a:lnTo>
                  <a:pt x="3405384" y="9065036"/>
                </a:lnTo>
                <a:lnTo>
                  <a:pt x="340538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28001" y="1028700"/>
            <a:ext cx="15837116" cy="8928174"/>
          </a:xfrm>
          <a:custGeom>
            <a:avLst/>
            <a:gdLst/>
            <a:ahLst/>
            <a:cxnLst/>
            <a:rect l="l" t="t" r="r" b="b"/>
            <a:pathLst>
              <a:path w="15837116" h="8928174">
                <a:moveTo>
                  <a:pt x="0" y="0"/>
                </a:moveTo>
                <a:lnTo>
                  <a:pt x="15837116" y="0"/>
                </a:lnTo>
                <a:lnTo>
                  <a:pt x="15837116" y="8928174"/>
                </a:lnTo>
                <a:lnTo>
                  <a:pt x="0" y="892817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013454" y="-133350"/>
            <a:ext cx="15245846" cy="932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20"/>
              </a:lnSpc>
            </a:pPr>
            <a:r>
              <a:rPr lang="en-US" sz="53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Healthcare Analysis Based on Appointment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E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987743">
            <a:off x="-5148051" y="-2289602"/>
            <a:ext cx="19179332" cy="16250125"/>
          </a:xfrm>
          <a:custGeom>
            <a:avLst/>
            <a:gdLst/>
            <a:ahLst/>
            <a:cxnLst/>
            <a:rect l="l" t="t" r="r" b="b"/>
            <a:pathLst>
              <a:path w="19179332" h="16250125">
                <a:moveTo>
                  <a:pt x="0" y="0"/>
                </a:moveTo>
                <a:lnTo>
                  <a:pt x="19179331" y="0"/>
                </a:lnTo>
                <a:lnTo>
                  <a:pt x="19179331" y="16250124"/>
                </a:lnTo>
                <a:lnTo>
                  <a:pt x="0" y="162501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378541">
            <a:off x="684915" y="-158386"/>
            <a:ext cx="17201471" cy="12416335"/>
          </a:xfrm>
          <a:custGeom>
            <a:avLst/>
            <a:gdLst/>
            <a:ahLst/>
            <a:cxnLst/>
            <a:rect l="l" t="t" r="r" b="b"/>
            <a:pathLst>
              <a:path w="17201471" h="12416335">
                <a:moveTo>
                  <a:pt x="0" y="0"/>
                </a:moveTo>
                <a:lnTo>
                  <a:pt x="17201471" y="0"/>
                </a:lnTo>
                <a:lnTo>
                  <a:pt x="17201471" y="12416335"/>
                </a:lnTo>
                <a:lnTo>
                  <a:pt x="0" y="12416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5000"/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925504" y="-10383"/>
            <a:ext cx="13741285" cy="1097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20"/>
              </a:lnSpc>
            </a:pPr>
            <a:r>
              <a:rPr lang="en-US" sz="6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Recommendations for appointments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9900" y="1050115"/>
            <a:ext cx="14976889" cy="8110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7623" lvl="1" indent="-293812" algn="just">
              <a:lnSpc>
                <a:spcPts val="3810"/>
              </a:lnSpc>
              <a:buFont typeface="Arial"/>
              <a:buChar char="•"/>
            </a:pPr>
            <a:r>
              <a:rPr lang="en-US" sz="272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Improve Appointment Completion Rate - By implementing sms/emails as a medium to remind them.</a:t>
            </a:r>
          </a:p>
          <a:p>
            <a:pPr marL="587623" lvl="1" indent="-293812" algn="just">
              <a:lnSpc>
                <a:spcPts val="3810"/>
              </a:lnSpc>
              <a:buFont typeface="Arial"/>
              <a:buChar char="•"/>
            </a:pPr>
            <a:r>
              <a:rPr lang="en-US" sz="272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Enforce a nominal no-show penalty or flexible rescheduling policy.</a:t>
            </a:r>
          </a:p>
          <a:p>
            <a:pPr marL="587623" lvl="1" indent="-293812" algn="just">
              <a:lnSpc>
                <a:spcPts val="3810"/>
              </a:lnSpc>
              <a:buFont typeface="Arial"/>
              <a:buChar char="•"/>
            </a:pPr>
            <a:r>
              <a:rPr lang="en-US" sz="272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Investigate reasons behind High cancellations- appointment availability, staff allocation.</a:t>
            </a:r>
          </a:p>
          <a:p>
            <a:pPr marL="587623" lvl="1" indent="-293812" algn="just">
              <a:lnSpc>
                <a:spcPts val="3810"/>
              </a:lnSpc>
              <a:buFont typeface="Arial"/>
              <a:buChar char="•"/>
            </a:pPr>
            <a:r>
              <a:rPr lang="en-US" sz="272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Launch awareness campaigns or health packages specifically targeting women's health to balance gender representation.</a:t>
            </a:r>
          </a:p>
          <a:p>
            <a:pPr marL="587623" lvl="1" indent="-293812" algn="just">
              <a:lnSpc>
                <a:spcPts val="3810"/>
              </a:lnSpc>
              <a:buFont typeface="Arial"/>
              <a:buChar char="•"/>
            </a:pPr>
            <a:r>
              <a:rPr lang="en-US" sz="272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Optimize High-Cost Treatments.</a:t>
            </a:r>
          </a:p>
          <a:p>
            <a:pPr marL="587623" lvl="1" indent="-293812" algn="just">
              <a:lnSpc>
                <a:spcPts val="3810"/>
              </a:lnSpc>
              <a:buFont typeface="Arial"/>
              <a:buChar char="•"/>
            </a:pPr>
            <a:r>
              <a:rPr lang="en-US" sz="272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Capitalize on Peak Months (April, May)</a:t>
            </a:r>
          </a:p>
          <a:p>
            <a:pPr marL="587623" lvl="1" indent="-293812" algn="just">
              <a:lnSpc>
                <a:spcPts val="3810"/>
              </a:lnSpc>
              <a:buFont typeface="Arial"/>
              <a:buChar char="•"/>
            </a:pPr>
            <a:r>
              <a:rPr lang="en-US" sz="272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Boost Low-Performing Months (e.g., September)</a:t>
            </a:r>
          </a:p>
          <a:p>
            <a:pPr algn="just">
              <a:lnSpc>
                <a:spcPts val="3810"/>
              </a:lnSpc>
            </a:pPr>
            <a:endParaRPr lang="en-US" sz="272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87623" lvl="1" indent="-293812" algn="just">
              <a:lnSpc>
                <a:spcPts val="3810"/>
              </a:lnSpc>
              <a:buFont typeface="Arial"/>
              <a:buChar char="•"/>
            </a:pPr>
            <a:r>
              <a:rPr lang="en-US" sz="272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Patient P012 has 10 visits; others show 7–9 repeat visits</a:t>
            </a:r>
          </a:p>
          <a:p>
            <a:pPr algn="just">
              <a:lnSpc>
                <a:spcPts val="3810"/>
              </a:lnSpc>
            </a:pPr>
            <a:r>
              <a:rPr lang="en-US" sz="272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Leverage frequent visitors for loyalty programs or personalised care plans.</a:t>
            </a:r>
          </a:p>
          <a:p>
            <a:pPr marL="587623" lvl="1" indent="-293812" algn="just">
              <a:lnSpc>
                <a:spcPts val="3810"/>
              </a:lnSpc>
              <a:buFont typeface="Arial"/>
              <a:buChar char="•"/>
            </a:pPr>
            <a:r>
              <a:rPr lang="en-US" sz="272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Audit doctors'(Dr Sarah Smith, Dr David Jones) appointment workflows, communication styles, and time slots. Train or support them with care coordinators to follow up with patients and reduce no-show likelihood.</a:t>
            </a:r>
          </a:p>
          <a:p>
            <a:pPr marL="587623" lvl="1" indent="-293812" algn="just">
              <a:lnSpc>
                <a:spcPts val="3810"/>
              </a:lnSpc>
              <a:buFont typeface="Arial"/>
              <a:buChar char="•"/>
            </a:pPr>
            <a:r>
              <a:rPr lang="en-US" sz="272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Launch seasonal marketing campaigns or preventive health drives in slower months like September &amp; December.</a:t>
            </a:r>
          </a:p>
        </p:txBody>
      </p:sp>
      <p:sp>
        <p:nvSpPr>
          <p:cNvPr id="6" name="Freeform 6"/>
          <p:cNvSpPr/>
          <p:nvPr/>
        </p:nvSpPr>
        <p:spPr>
          <a:xfrm>
            <a:off x="14936957" y="1476646"/>
            <a:ext cx="5382069" cy="11973745"/>
          </a:xfrm>
          <a:custGeom>
            <a:avLst/>
            <a:gdLst/>
            <a:ahLst/>
            <a:cxnLst/>
            <a:rect l="l" t="t" r="r" b="b"/>
            <a:pathLst>
              <a:path w="5382069" h="11973745">
                <a:moveTo>
                  <a:pt x="0" y="0"/>
                </a:moveTo>
                <a:lnTo>
                  <a:pt x="5382069" y="0"/>
                </a:lnTo>
                <a:lnTo>
                  <a:pt x="5382069" y="11973745"/>
                </a:lnTo>
                <a:lnTo>
                  <a:pt x="0" y="119737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739465" y="32049"/>
            <a:ext cx="1777054" cy="1444596"/>
          </a:xfrm>
          <a:custGeom>
            <a:avLst/>
            <a:gdLst/>
            <a:ahLst/>
            <a:cxnLst/>
            <a:rect l="l" t="t" r="r" b="b"/>
            <a:pathLst>
              <a:path w="1777054" h="1444596">
                <a:moveTo>
                  <a:pt x="0" y="0"/>
                </a:moveTo>
                <a:lnTo>
                  <a:pt x="1777053" y="0"/>
                </a:lnTo>
                <a:lnTo>
                  <a:pt x="1777053" y="1444597"/>
                </a:lnTo>
                <a:lnTo>
                  <a:pt x="0" y="14445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545550" y="580754"/>
            <a:ext cx="1574250" cy="895891"/>
          </a:xfrm>
          <a:custGeom>
            <a:avLst/>
            <a:gdLst/>
            <a:ahLst/>
            <a:cxnLst/>
            <a:rect l="l" t="t" r="r" b="b"/>
            <a:pathLst>
              <a:path w="1574250" h="895891">
                <a:moveTo>
                  <a:pt x="0" y="0"/>
                </a:moveTo>
                <a:lnTo>
                  <a:pt x="1574250" y="0"/>
                </a:lnTo>
                <a:lnTo>
                  <a:pt x="1574250" y="895892"/>
                </a:lnTo>
                <a:lnTo>
                  <a:pt x="0" y="8958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4000"/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E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987743">
            <a:off x="-5148051" y="-2289602"/>
            <a:ext cx="19179332" cy="16250125"/>
          </a:xfrm>
          <a:custGeom>
            <a:avLst/>
            <a:gdLst/>
            <a:ahLst/>
            <a:cxnLst/>
            <a:rect l="l" t="t" r="r" b="b"/>
            <a:pathLst>
              <a:path w="19179332" h="16250125">
                <a:moveTo>
                  <a:pt x="0" y="0"/>
                </a:moveTo>
                <a:lnTo>
                  <a:pt x="19179331" y="0"/>
                </a:lnTo>
                <a:lnTo>
                  <a:pt x="19179331" y="16250124"/>
                </a:lnTo>
                <a:lnTo>
                  <a:pt x="0" y="162501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378541">
            <a:off x="-374719" y="-372707"/>
            <a:ext cx="17201471" cy="12416335"/>
          </a:xfrm>
          <a:custGeom>
            <a:avLst/>
            <a:gdLst/>
            <a:ahLst/>
            <a:cxnLst/>
            <a:rect l="l" t="t" r="r" b="b"/>
            <a:pathLst>
              <a:path w="17201471" h="12416335">
                <a:moveTo>
                  <a:pt x="0" y="0"/>
                </a:moveTo>
                <a:lnTo>
                  <a:pt x="17201471" y="0"/>
                </a:lnTo>
                <a:lnTo>
                  <a:pt x="17201471" y="12416334"/>
                </a:lnTo>
                <a:lnTo>
                  <a:pt x="0" y="124163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5000"/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326120" y="9258300"/>
            <a:ext cx="2455053" cy="1397148"/>
          </a:xfrm>
          <a:custGeom>
            <a:avLst/>
            <a:gdLst/>
            <a:ahLst/>
            <a:cxnLst/>
            <a:rect l="l" t="t" r="r" b="b"/>
            <a:pathLst>
              <a:path w="2455053" h="1397148">
                <a:moveTo>
                  <a:pt x="0" y="0"/>
                </a:moveTo>
                <a:lnTo>
                  <a:pt x="2455053" y="0"/>
                </a:lnTo>
                <a:lnTo>
                  <a:pt x="2455053" y="1397148"/>
                </a:lnTo>
                <a:lnTo>
                  <a:pt x="0" y="13971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4000"/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426353" y="2512547"/>
            <a:ext cx="2455053" cy="1397148"/>
          </a:xfrm>
          <a:custGeom>
            <a:avLst/>
            <a:gdLst/>
            <a:ahLst/>
            <a:cxnLst/>
            <a:rect l="l" t="t" r="r" b="b"/>
            <a:pathLst>
              <a:path w="2455053" h="1397148">
                <a:moveTo>
                  <a:pt x="0" y="0"/>
                </a:moveTo>
                <a:lnTo>
                  <a:pt x="2455053" y="0"/>
                </a:lnTo>
                <a:lnTo>
                  <a:pt x="2455053" y="1397148"/>
                </a:lnTo>
                <a:lnTo>
                  <a:pt x="0" y="13971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4000"/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139547" y="1028700"/>
            <a:ext cx="15828154" cy="8883551"/>
          </a:xfrm>
          <a:custGeom>
            <a:avLst/>
            <a:gdLst/>
            <a:ahLst/>
            <a:cxnLst/>
            <a:rect l="l" t="t" r="r" b="b"/>
            <a:pathLst>
              <a:path w="15828154" h="8883551">
                <a:moveTo>
                  <a:pt x="0" y="0"/>
                </a:moveTo>
                <a:lnTo>
                  <a:pt x="15828154" y="0"/>
                </a:lnTo>
                <a:lnTo>
                  <a:pt x="15828154" y="8883551"/>
                </a:lnTo>
                <a:lnTo>
                  <a:pt x="0" y="888355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506255" y="96523"/>
            <a:ext cx="14537445" cy="932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20"/>
              </a:lnSpc>
            </a:pPr>
            <a:r>
              <a:rPr lang="en-US" sz="53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Healthcare Analysis Based on Billings</a:t>
            </a:r>
          </a:p>
        </p:txBody>
      </p:sp>
      <p:sp>
        <p:nvSpPr>
          <p:cNvPr id="8" name="Freeform 8"/>
          <p:cNvSpPr/>
          <p:nvPr/>
        </p:nvSpPr>
        <p:spPr>
          <a:xfrm>
            <a:off x="-1734353" y="5835460"/>
            <a:ext cx="4711722" cy="4763690"/>
          </a:xfrm>
          <a:custGeom>
            <a:avLst/>
            <a:gdLst/>
            <a:ahLst/>
            <a:cxnLst/>
            <a:rect l="l" t="t" r="r" b="b"/>
            <a:pathLst>
              <a:path w="4711722" h="4763690">
                <a:moveTo>
                  <a:pt x="0" y="0"/>
                </a:moveTo>
                <a:lnTo>
                  <a:pt x="4711722" y="0"/>
                </a:lnTo>
                <a:lnTo>
                  <a:pt x="4711722" y="4763690"/>
                </a:lnTo>
                <a:lnTo>
                  <a:pt x="0" y="476369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0173" y="1067950"/>
            <a:ext cx="1777054" cy="1444596"/>
          </a:xfrm>
          <a:custGeom>
            <a:avLst/>
            <a:gdLst/>
            <a:ahLst/>
            <a:cxnLst/>
            <a:rect l="l" t="t" r="r" b="b"/>
            <a:pathLst>
              <a:path w="1777054" h="1444596">
                <a:moveTo>
                  <a:pt x="0" y="0"/>
                </a:moveTo>
                <a:lnTo>
                  <a:pt x="1777054" y="0"/>
                </a:lnTo>
                <a:lnTo>
                  <a:pt x="1777054" y="1444597"/>
                </a:lnTo>
                <a:lnTo>
                  <a:pt x="0" y="144459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E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987743">
            <a:off x="-5148051" y="-2289602"/>
            <a:ext cx="19179332" cy="16250125"/>
          </a:xfrm>
          <a:custGeom>
            <a:avLst/>
            <a:gdLst/>
            <a:ahLst/>
            <a:cxnLst/>
            <a:rect l="l" t="t" r="r" b="b"/>
            <a:pathLst>
              <a:path w="19179332" h="16250125">
                <a:moveTo>
                  <a:pt x="0" y="0"/>
                </a:moveTo>
                <a:lnTo>
                  <a:pt x="19179331" y="0"/>
                </a:lnTo>
                <a:lnTo>
                  <a:pt x="19179331" y="16250124"/>
                </a:lnTo>
                <a:lnTo>
                  <a:pt x="0" y="162501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378541">
            <a:off x="684915" y="-158386"/>
            <a:ext cx="17201471" cy="12416335"/>
          </a:xfrm>
          <a:custGeom>
            <a:avLst/>
            <a:gdLst/>
            <a:ahLst/>
            <a:cxnLst/>
            <a:rect l="l" t="t" r="r" b="b"/>
            <a:pathLst>
              <a:path w="17201471" h="12416335">
                <a:moveTo>
                  <a:pt x="0" y="0"/>
                </a:moveTo>
                <a:lnTo>
                  <a:pt x="17201471" y="0"/>
                </a:lnTo>
                <a:lnTo>
                  <a:pt x="17201471" y="12416335"/>
                </a:lnTo>
                <a:lnTo>
                  <a:pt x="0" y="12416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5000"/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925504" y="-10383"/>
            <a:ext cx="13741285" cy="2211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20"/>
              </a:lnSpc>
            </a:pPr>
            <a:r>
              <a:rPr lang="en-US" sz="6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Recommendations for Billings dashboard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44300" y="2309926"/>
            <a:ext cx="13485587" cy="6213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51204" lvl="1" indent="-425602" algn="l">
              <a:lnSpc>
                <a:spcPts val="5519"/>
              </a:lnSpc>
              <a:buFont typeface="Arial"/>
              <a:buChar char="•"/>
            </a:pPr>
            <a:r>
              <a:rPr lang="en-US" sz="394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Optimise the Use of Payment Methods: While credit cards account for the highest billing volume, they also exhibit high pending/failure rates. Promote more reliable payment channels.</a:t>
            </a:r>
          </a:p>
          <a:p>
            <a:pPr marL="851204" lvl="1" indent="-425602" algn="just">
              <a:lnSpc>
                <a:spcPts val="5519"/>
              </a:lnSpc>
              <a:buFont typeface="Arial"/>
              <a:buChar char="•"/>
            </a:pPr>
            <a:r>
              <a:rPr lang="en-US" sz="394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Act on Seasonal Billing Trends: Months like April, June, and December show spikes in billing — these periods can be leveraged for revenue pushes, bulk scheduling, or prepaid packages.</a:t>
            </a:r>
          </a:p>
          <a:p>
            <a:pPr algn="just">
              <a:lnSpc>
                <a:spcPts val="5519"/>
              </a:lnSpc>
            </a:pPr>
            <a:endParaRPr lang="en-US" sz="3942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4936957" y="1476646"/>
            <a:ext cx="5382069" cy="11973745"/>
          </a:xfrm>
          <a:custGeom>
            <a:avLst/>
            <a:gdLst/>
            <a:ahLst/>
            <a:cxnLst/>
            <a:rect l="l" t="t" r="r" b="b"/>
            <a:pathLst>
              <a:path w="5382069" h="11973745">
                <a:moveTo>
                  <a:pt x="0" y="0"/>
                </a:moveTo>
                <a:lnTo>
                  <a:pt x="5382069" y="0"/>
                </a:lnTo>
                <a:lnTo>
                  <a:pt x="5382069" y="11973745"/>
                </a:lnTo>
                <a:lnTo>
                  <a:pt x="0" y="119737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739465" y="32049"/>
            <a:ext cx="1777054" cy="1444596"/>
          </a:xfrm>
          <a:custGeom>
            <a:avLst/>
            <a:gdLst/>
            <a:ahLst/>
            <a:cxnLst/>
            <a:rect l="l" t="t" r="r" b="b"/>
            <a:pathLst>
              <a:path w="1777054" h="1444596">
                <a:moveTo>
                  <a:pt x="0" y="0"/>
                </a:moveTo>
                <a:lnTo>
                  <a:pt x="1777053" y="0"/>
                </a:lnTo>
                <a:lnTo>
                  <a:pt x="1777053" y="1444597"/>
                </a:lnTo>
                <a:lnTo>
                  <a:pt x="0" y="14445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545550" y="580754"/>
            <a:ext cx="1574250" cy="895891"/>
          </a:xfrm>
          <a:custGeom>
            <a:avLst/>
            <a:gdLst/>
            <a:ahLst/>
            <a:cxnLst/>
            <a:rect l="l" t="t" r="r" b="b"/>
            <a:pathLst>
              <a:path w="1574250" h="895891">
                <a:moveTo>
                  <a:pt x="0" y="0"/>
                </a:moveTo>
                <a:lnTo>
                  <a:pt x="1574250" y="0"/>
                </a:lnTo>
                <a:lnTo>
                  <a:pt x="1574250" y="895892"/>
                </a:lnTo>
                <a:lnTo>
                  <a:pt x="0" y="8958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4000"/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E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987743">
            <a:off x="-5148051" y="-2289602"/>
            <a:ext cx="19179332" cy="16250125"/>
          </a:xfrm>
          <a:custGeom>
            <a:avLst/>
            <a:gdLst/>
            <a:ahLst/>
            <a:cxnLst/>
            <a:rect l="l" t="t" r="r" b="b"/>
            <a:pathLst>
              <a:path w="19179332" h="16250125">
                <a:moveTo>
                  <a:pt x="0" y="0"/>
                </a:moveTo>
                <a:lnTo>
                  <a:pt x="19179331" y="0"/>
                </a:lnTo>
                <a:lnTo>
                  <a:pt x="19179331" y="16250124"/>
                </a:lnTo>
                <a:lnTo>
                  <a:pt x="0" y="162501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378541">
            <a:off x="-374719" y="-372707"/>
            <a:ext cx="17201471" cy="12416335"/>
          </a:xfrm>
          <a:custGeom>
            <a:avLst/>
            <a:gdLst/>
            <a:ahLst/>
            <a:cxnLst/>
            <a:rect l="l" t="t" r="r" b="b"/>
            <a:pathLst>
              <a:path w="17201471" h="12416335">
                <a:moveTo>
                  <a:pt x="0" y="0"/>
                </a:moveTo>
                <a:lnTo>
                  <a:pt x="17201471" y="0"/>
                </a:lnTo>
                <a:lnTo>
                  <a:pt x="17201471" y="12416334"/>
                </a:lnTo>
                <a:lnTo>
                  <a:pt x="0" y="124163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5000"/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326120" y="9258300"/>
            <a:ext cx="2455053" cy="1397148"/>
          </a:xfrm>
          <a:custGeom>
            <a:avLst/>
            <a:gdLst/>
            <a:ahLst/>
            <a:cxnLst/>
            <a:rect l="l" t="t" r="r" b="b"/>
            <a:pathLst>
              <a:path w="2455053" h="1397148">
                <a:moveTo>
                  <a:pt x="0" y="0"/>
                </a:moveTo>
                <a:lnTo>
                  <a:pt x="2455053" y="0"/>
                </a:lnTo>
                <a:lnTo>
                  <a:pt x="2455053" y="1397148"/>
                </a:lnTo>
                <a:lnTo>
                  <a:pt x="0" y="13971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4000"/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426353" y="2512547"/>
            <a:ext cx="2455053" cy="1397148"/>
          </a:xfrm>
          <a:custGeom>
            <a:avLst/>
            <a:gdLst/>
            <a:ahLst/>
            <a:cxnLst/>
            <a:rect l="l" t="t" r="r" b="b"/>
            <a:pathLst>
              <a:path w="2455053" h="1397148">
                <a:moveTo>
                  <a:pt x="0" y="0"/>
                </a:moveTo>
                <a:lnTo>
                  <a:pt x="2455053" y="0"/>
                </a:lnTo>
                <a:lnTo>
                  <a:pt x="2455053" y="1397148"/>
                </a:lnTo>
                <a:lnTo>
                  <a:pt x="0" y="13971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4000"/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28158" y="1028700"/>
            <a:ext cx="15595716" cy="8811580"/>
          </a:xfrm>
          <a:custGeom>
            <a:avLst/>
            <a:gdLst/>
            <a:ahLst/>
            <a:cxnLst/>
            <a:rect l="l" t="t" r="r" b="b"/>
            <a:pathLst>
              <a:path w="15595716" h="8811580">
                <a:moveTo>
                  <a:pt x="0" y="0"/>
                </a:moveTo>
                <a:lnTo>
                  <a:pt x="15595717" y="0"/>
                </a:lnTo>
                <a:lnTo>
                  <a:pt x="15595717" y="8811580"/>
                </a:lnTo>
                <a:lnTo>
                  <a:pt x="0" y="88115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506255" y="96523"/>
            <a:ext cx="15245846" cy="932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20"/>
              </a:lnSpc>
            </a:pPr>
            <a:r>
              <a:rPr lang="en-US" sz="53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Healthcare Analysis Based on Patients</a:t>
            </a:r>
          </a:p>
        </p:txBody>
      </p:sp>
      <p:sp>
        <p:nvSpPr>
          <p:cNvPr id="8" name="Freeform 8"/>
          <p:cNvSpPr/>
          <p:nvPr/>
        </p:nvSpPr>
        <p:spPr>
          <a:xfrm>
            <a:off x="14044987" y="4243435"/>
            <a:ext cx="4787650" cy="6043565"/>
          </a:xfrm>
          <a:custGeom>
            <a:avLst/>
            <a:gdLst/>
            <a:ahLst/>
            <a:cxnLst/>
            <a:rect l="l" t="t" r="r" b="b"/>
            <a:pathLst>
              <a:path w="4787650" h="6043565">
                <a:moveTo>
                  <a:pt x="0" y="0"/>
                </a:moveTo>
                <a:lnTo>
                  <a:pt x="4787649" y="0"/>
                </a:lnTo>
                <a:lnTo>
                  <a:pt x="4787649" y="6043565"/>
                </a:lnTo>
                <a:lnTo>
                  <a:pt x="0" y="604356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370773" y="629287"/>
            <a:ext cx="1777054" cy="1444596"/>
          </a:xfrm>
          <a:custGeom>
            <a:avLst/>
            <a:gdLst/>
            <a:ahLst/>
            <a:cxnLst/>
            <a:rect l="l" t="t" r="r" b="b"/>
            <a:pathLst>
              <a:path w="1777054" h="1444596">
                <a:moveTo>
                  <a:pt x="0" y="0"/>
                </a:moveTo>
                <a:lnTo>
                  <a:pt x="1777054" y="0"/>
                </a:lnTo>
                <a:lnTo>
                  <a:pt x="1777054" y="1444596"/>
                </a:lnTo>
                <a:lnTo>
                  <a:pt x="0" y="144459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E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987743">
            <a:off x="-5148051" y="-2289602"/>
            <a:ext cx="19179332" cy="16250125"/>
          </a:xfrm>
          <a:custGeom>
            <a:avLst/>
            <a:gdLst/>
            <a:ahLst/>
            <a:cxnLst/>
            <a:rect l="l" t="t" r="r" b="b"/>
            <a:pathLst>
              <a:path w="19179332" h="16250125">
                <a:moveTo>
                  <a:pt x="0" y="0"/>
                </a:moveTo>
                <a:lnTo>
                  <a:pt x="19179331" y="0"/>
                </a:lnTo>
                <a:lnTo>
                  <a:pt x="19179331" y="16250124"/>
                </a:lnTo>
                <a:lnTo>
                  <a:pt x="0" y="162501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378541">
            <a:off x="684915" y="-158386"/>
            <a:ext cx="17201471" cy="12416335"/>
          </a:xfrm>
          <a:custGeom>
            <a:avLst/>
            <a:gdLst/>
            <a:ahLst/>
            <a:cxnLst/>
            <a:rect l="l" t="t" r="r" b="b"/>
            <a:pathLst>
              <a:path w="17201471" h="12416335">
                <a:moveTo>
                  <a:pt x="0" y="0"/>
                </a:moveTo>
                <a:lnTo>
                  <a:pt x="17201471" y="0"/>
                </a:lnTo>
                <a:lnTo>
                  <a:pt x="17201471" y="12416335"/>
                </a:lnTo>
                <a:lnTo>
                  <a:pt x="0" y="12416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5000"/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925504" y="-10383"/>
            <a:ext cx="13741285" cy="2211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20"/>
              </a:lnSpc>
            </a:pPr>
            <a:r>
              <a:rPr lang="en-US" sz="6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Recommendations for Patients Dashboard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34024" y="2340720"/>
            <a:ext cx="14018485" cy="6512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91" lvl="1" indent="-334646" algn="just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Smooth Seasonal Slumps:</a:t>
            </a:r>
          </a:p>
          <a:p>
            <a:pPr algn="just">
              <a:lnSpc>
                <a:spcPts val="4340"/>
              </a:lnSpc>
            </a:pPr>
            <a:r>
              <a:rPr lang="en-US" sz="3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February and October are slow. Run awareness campaigns, free screening events, or discounts during these months to maintain volume.</a:t>
            </a:r>
          </a:p>
          <a:p>
            <a:pPr marL="669291" lvl="1" indent="-334646" algn="just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Capitalize on Peak Months:</a:t>
            </a:r>
          </a:p>
          <a:p>
            <a:pPr algn="just">
              <a:lnSpc>
                <a:spcPts val="4340"/>
              </a:lnSpc>
            </a:pPr>
            <a:r>
              <a:rPr lang="en-US" sz="3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September shows peak patient registrations. Use it for seasonal checkups, promotional offers, or annual health packages.</a:t>
            </a:r>
          </a:p>
          <a:p>
            <a:pPr marL="669291" lvl="1" indent="-334646" algn="just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Evaluate Low-Performing Insurers:</a:t>
            </a:r>
          </a:p>
          <a:p>
            <a:pPr algn="just">
              <a:lnSpc>
                <a:spcPts val="4340"/>
              </a:lnSpc>
            </a:pPr>
            <a:r>
              <a:rPr lang="en-US" sz="3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Investigate why HealthIndia has a low patient count — maybe due to poor plan acceptance or coverage issues. Also, strengthen collaboration with MedCare Plus and WellnessCorp, offering exclusive plans or faster claim processes.</a:t>
            </a:r>
          </a:p>
          <a:p>
            <a:pPr marL="669291" lvl="1" indent="-334646" algn="just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Gender-Specific Outreach (female patients are less):</a:t>
            </a:r>
          </a:p>
          <a:p>
            <a:pPr algn="just">
              <a:lnSpc>
                <a:spcPts val="4340"/>
              </a:lnSpc>
            </a:pPr>
            <a:r>
              <a:rPr lang="en-US" sz="3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Offer women-focused health packages, affordable checkups, or awareness.</a:t>
            </a:r>
          </a:p>
        </p:txBody>
      </p:sp>
      <p:sp>
        <p:nvSpPr>
          <p:cNvPr id="6" name="Freeform 6"/>
          <p:cNvSpPr/>
          <p:nvPr/>
        </p:nvSpPr>
        <p:spPr>
          <a:xfrm>
            <a:off x="15191310" y="1028700"/>
            <a:ext cx="5382069" cy="11973745"/>
          </a:xfrm>
          <a:custGeom>
            <a:avLst/>
            <a:gdLst/>
            <a:ahLst/>
            <a:cxnLst/>
            <a:rect l="l" t="t" r="r" b="b"/>
            <a:pathLst>
              <a:path w="5382069" h="11973745">
                <a:moveTo>
                  <a:pt x="0" y="0"/>
                </a:moveTo>
                <a:lnTo>
                  <a:pt x="5382069" y="0"/>
                </a:lnTo>
                <a:lnTo>
                  <a:pt x="5382069" y="11973745"/>
                </a:lnTo>
                <a:lnTo>
                  <a:pt x="0" y="119737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739465" y="32049"/>
            <a:ext cx="1777054" cy="1444596"/>
          </a:xfrm>
          <a:custGeom>
            <a:avLst/>
            <a:gdLst/>
            <a:ahLst/>
            <a:cxnLst/>
            <a:rect l="l" t="t" r="r" b="b"/>
            <a:pathLst>
              <a:path w="1777054" h="1444596">
                <a:moveTo>
                  <a:pt x="0" y="0"/>
                </a:moveTo>
                <a:lnTo>
                  <a:pt x="1777053" y="0"/>
                </a:lnTo>
                <a:lnTo>
                  <a:pt x="1777053" y="1444597"/>
                </a:lnTo>
                <a:lnTo>
                  <a:pt x="0" y="14445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545550" y="580754"/>
            <a:ext cx="1574250" cy="895891"/>
          </a:xfrm>
          <a:custGeom>
            <a:avLst/>
            <a:gdLst/>
            <a:ahLst/>
            <a:cxnLst/>
            <a:rect l="l" t="t" r="r" b="b"/>
            <a:pathLst>
              <a:path w="1574250" h="895891">
                <a:moveTo>
                  <a:pt x="0" y="0"/>
                </a:moveTo>
                <a:lnTo>
                  <a:pt x="1574250" y="0"/>
                </a:lnTo>
                <a:lnTo>
                  <a:pt x="1574250" y="895892"/>
                </a:lnTo>
                <a:lnTo>
                  <a:pt x="0" y="8958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4000"/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E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987743">
            <a:off x="-5148051" y="-2289602"/>
            <a:ext cx="19179332" cy="16250125"/>
          </a:xfrm>
          <a:custGeom>
            <a:avLst/>
            <a:gdLst/>
            <a:ahLst/>
            <a:cxnLst/>
            <a:rect l="l" t="t" r="r" b="b"/>
            <a:pathLst>
              <a:path w="19179332" h="16250125">
                <a:moveTo>
                  <a:pt x="0" y="0"/>
                </a:moveTo>
                <a:lnTo>
                  <a:pt x="19179331" y="0"/>
                </a:lnTo>
                <a:lnTo>
                  <a:pt x="19179331" y="16250124"/>
                </a:lnTo>
                <a:lnTo>
                  <a:pt x="0" y="162501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378541">
            <a:off x="-374719" y="-372707"/>
            <a:ext cx="17201471" cy="12416335"/>
          </a:xfrm>
          <a:custGeom>
            <a:avLst/>
            <a:gdLst/>
            <a:ahLst/>
            <a:cxnLst/>
            <a:rect l="l" t="t" r="r" b="b"/>
            <a:pathLst>
              <a:path w="17201471" h="12416335">
                <a:moveTo>
                  <a:pt x="0" y="0"/>
                </a:moveTo>
                <a:lnTo>
                  <a:pt x="17201471" y="0"/>
                </a:lnTo>
                <a:lnTo>
                  <a:pt x="17201471" y="12416334"/>
                </a:lnTo>
                <a:lnTo>
                  <a:pt x="0" y="124163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5000"/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326120" y="9258300"/>
            <a:ext cx="2455053" cy="1397148"/>
          </a:xfrm>
          <a:custGeom>
            <a:avLst/>
            <a:gdLst/>
            <a:ahLst/>
            <a:cxnLst/>
            <a:rect l="l" t="t" r="r" b="b"/>
            <a:pathLst>
              <a:path w="2455053" h="1397148">
                <a:moveTo>
                  <a:pt x="0" y="0"/>
                </a:moveTo>
                <a:lnTo>
                  <a:pt x="2455053" y="0"/>
                </a:lnTo>
                <a:lnTo>
                  <a:pt x="2455053" y="1397148"/>
                </a:lnTo>
                <a:lnTo>
                  <a:pt x="0" y="13971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4000"/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426353" y="2512547"/>
            <a:ext cx="2455053" cy="1397148"/>
          </a:xfrm>
          <a:custGeom>
            <a:avLst/>
            <a:gdLst/>
            <a:ahLst/>
            <a:cxnLst/>
            <a:rect l="l" t="t" r="r" b="b"/>
            <a:pathLst>
              <a:path w="2455053" h="1397148">
                <a:moveTo>
                  <a:pt x="0" y="0"/>
                </a:moveTo>
                <a:lnTo>
                  <a:pt x="2455053" y="0"/>
                </a:lnTo>
                <a:lnTo>
                  <a:pt x="2455053" y="1397148"/>
                </a:lnTo>
                <a:lnTo>
                  <a:pt x="0" y="13971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4000"/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383460" y="3148885"/>
            <a:ext cx="3382081" cy="7138115"/>
          </a:xfrm>
          <a:custGeom>
            <a:avLst/>
            <a:gdLst/>
            <a:ahLst/>
            <a:cxnLst/>
            <a:rect l="l" t="t" r="r" b="b"/>
            <a:pathLst>
              <a:path w="3382081" h="7138115">
                <a:moveTo>
                  <a:pt x="0" y="0"/>
                </a:moveTo>
                <a:lnTo>
                  <a:pt x="3382080" y="0"/>
                </a:lnTo>
                <a:lnTo>
                  <a:pt x="3382080" y="7138115"/>
                </a:lnTo>
                <a:lnTo>
                  <a:pt x="0" y="71381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04215" y="1028700"/>
            <a:ext cx="15769392" cy="8791436"/>
          </a:xfrm>
          <a:custGeom>
            <a:avLst/>
            <a:gdLst/>
            <a:ahLst/>
            <a:cxnLst/>
            <a:rect l="l" t="t" r="r" b="b"/>
            <a:pathLst>
              <a:path w="15769392" h="8791436">
                <a:moveTo>
                  <a:pt x="0" y="0"/>
                </a:moveTo>
                <a:lnTo>
                  <a:pt x="15769392" y="0"/>
                </a:lnTo>
                <a:lnTo>
                  <a:pt x="15769392" y="8791436"/>
                </a:lnTo>
                <a:lnTo>
                  <a:pt x="0" y="87914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19853" y="96523"/>
            <a:ext cx="17032248" cy="932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20"/>
              </a:lnSpc>
            </a:pPr>
            <a:r>
              <a:rPr lang="en-US" sz="53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Healthcare Analysis Based on Doctors &amp; Treatment</a:t>
            </a:r>
          </a:p>
        </p:txBody>
      </p:sp>
      <p:sp>
        <p:nvSpPr>
          <p:cNvPr id="9" name="Freeform 9"/>
          <p:cNvSpPr/>
          <p:nvPr/>
        </p:nvSpPr>
        <p:spPr>
          <a:xfrm>
            <a:off x="17399473" y="1067950"/>
            <a:ext cx="1777054" cy="1444596"/>
          </a:xfrm>
          <a:custGeom>
            <a:avLst/>
            <a:gdLst/>
            <a:ahLst/>
            <a:cxnLst/>
            <a:rect l="l" t="t" r="r" b="b"/>
            <a:pathLst>
              <a:path w="1777054" h="1444596">
                <a:moveTo>
                  <a:pt x="0" y="0"/>
                </a:moveTo>
                <a:lnTo>
                  <a:pt x="1777054" y="0"/>
                </a:lnTo>
                <a:lnTo>
                  <a:pt x="1777054" y="1444597"/>
                </a:lnTo>
                <a:lnTo>
                  <a:pt x="0" y="144459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E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987743">
            <a:off x="-5148051" y="-2289602"/>
            <a:ext cx="19179332" cy="16250125"/>
          </a:xfrm>
          <a:custGeom>
            <a:avLst/>
            <a:gdLst/>
            <a:ahLst/>
            <a:cxnLst/>
            <a:rect l="l" t="t" r="r" b="b"/>
            <a:pathLst>
              <a:path w="19179332" h="16250125">
                <a:moveTo>
                  <a:pt x="0" y="0"/>
                </a:moveTo>
                <a:lnTo>
                  <a:pt x="19179331" y="0"/>
                </a:lnTo>
                <a:lnTo>
                  <a:pt x="19179331" y="16250124"/>
                </a:lnTo>
                <a:lnTo>
                  <a:pt x="0" y="162501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378541">
            <a:off x="684915" y="-158386"/>
            <a:ext cx="17201471" cy="12416335"/>
          </a:xfrm>
          <a:custGeom>
            <a:avLst/>
            <a:gdLst/>
            <a:ahLst/>
            <a:cxnLst/>
            <a:rect l="l" t="t" r="r" b="b"/>
            <a:pathLst>
              <a:path w="17201471" h="12416335">
                <a:moveTo>
                  <a:pt x="0" y="0"/>
                </a:moveTo>
                <a:lnTo>
                  <a:pt x="17201471" y="0"/>
                </a:lnTo>
                <a:lnTo>
                  <a:pt x="17201471" y="12416335"/>
                </a:lnTo>
                <a:lnTo>
                  <a:pt x="0" y="12416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5000"/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925504" y="-858"/>
            <a:ext cx="13741285" cy="1865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0"/>
              </a:lnSpc>
            </a:pPr>
            <a:r>
              <a:rPr lang="en-US" sz="5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Recommendations for doctors and treatments dashboard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88425" y="1779044"/>
            <a:ext cx="12848084" cy="7800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Leverage Doctor Experience: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Market the hospital’s highly experienced medical staff as a differentiator for trust and quality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Increase Patient Outreach: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48 patients over 200 appointments indicate a small pool; run community health campaigns to attract new patients.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Promote High-Cost Services: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Focus marketing on Advanced Protocols, MRI, and Chemotherapy — these yield higher revenue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Expand Staff at Central Hospital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Service Diversification Needed: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Only a few services dominate. Introduce new treatments or wellness programs</a:t>
            </a:r>
          </a:p>
        </p:txBody>
      </p:sp>
      <p:sp>
        <p:nvSpPr>
          <p:cNvPr id="6" name="Freeform 6"/>
          <p:cNvSpPr/>
          <p:nvPr/>
        </p:nvSpPr>
        <p:spPr>
          <a:xfrm>
            <a:off x="14236509" y="1028700"/>
            <a:ext cx="5382069" cy="11973745"/>
          </a:xfrm>
          <a:custGeom>
            <a:avLst/>
            <a:gdLst/>
            <a:ahLst/>
            <a:cxnLst/>
            <a:rect l="l" t="t" r="r" b="b"/>
            <a:pathLst>
              <a:path w="5382069" h="11973745">
                <a:moveTo>
                  <a:pt x="0" y="0"/>
                </a:moveTo>
                <a:lnTo>
                  <a:pt x="5382069" y="0"/>
                </a:lnTo>
                <a:lnTo>
                  <a:pt x="5382069" y="11973745"/>
                </a:lnTo>
                <a:lnTo>
                  <a:pt x="0" y="119737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739465" y="32049"/>
            <a:ext cx="1777054" cy="1444596"/>
          </a:xfrm>
          <a:custGeom>
            <a:avLst/>
            <a:gdLst/>
            <a:ahLst/>
            <a:cxnLst/>
            <a:rect l="l" t="t" r="r" b="b"/>
            <a:pathLst>
              <a:path w="1777054" h="1444596">
                <a:moveTo>
                  <a:pt x="0" y="0"/>
                </a:moveTo>
                <a:lnTo>
                  <a:pt x="1777053" y="0"/>
                </a:lnTo>
                <a:lnTo>
                  <a:pt x="1777053" y="1444597"/>
                </a:lnTo>
                <a:lnTo>
                  <a:pt x="0" y="14445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545550" y="580754"/>
            <a:ext cx="1574250" cy="895891"/>
          </a:xfrm>
          <a:custGeom>
            <a:avLst/>
            <a:gdLst/>
            <a:ahLst/>
            <a:cxnLst/>
            <a:rect l="l" t="t" r="r" b="b"/>
            <a:pathLst>
              <a:path w="1574250" h="895891">
                <a:moveTo>
                  <a:pt x="0" y="0"/>
                </a:moveTo>
                <a:lnTo>
                  <a:pt x="1574250" y="0"/>
                </a:lnTo>
                <a:lnTo>
                  <a:pt x="1574250" y="895892"/>
                </a:lnTo>
                <a:lnTo>
                  <a:pt x="0" y="8958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4000"/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385E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987743">
            <a:off x="-5148051" y="-2289602"/>
            <a:ext cx="19179332" cy="16250125"/>
          </a:xfrm>
          <a:custGeom>
            <a:avLst/>
            <a:gdLst/>
            <a:ahLst/>
            <a:cxnLst/>
            <a:rect l="l" t="t" r="r" b="b"/>
            <a:pathLst>
              <a:path w="19179332" h="16250125">
                <a:moveTo>
                  <a:pt x="0" y="0"/>
                </a:moveTo>
                <a:lnTo>
                  <a:pt x="19179331" y="0"/>
                </a:lnTo>
                <a:lnTo>
                  <a:pt x="19179331" y="16250124"/>
                </a:lnTo>
                <a:lnTo>
                  <a:pt x="0" y="162501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378541">
            <a:off x="684915" y="-158386"/>
            <a:ext cx="17201471" cy="12416335"/>
          </a:xfrm>
          <a:custGeom>
            <a:avLst/>
            <a:gdLst/>
            <a:ahLst/>
            <a:cxnLst/>
            <a:rect l="l" t="t" r="r" b="b"/>
            <a:pathLst>
              <a:path w="17201471" h="12416335">
                <a:moveTo>
                  <a:pt x="0" y="0"/>
                </a:moveTo>
                <a:lnTo>
                  <a:pt x="17201471" y="0"/>
                </a:lnTo>
                <a:lnTo>
                  <a:pt x="17201471" y="12416335"/>
                </a:lnTo>
                <a:lnTo>
                  <a:pt x="0" y="12416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5000"/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419225" y="103141"/>
            <a:ext cx="7567282" cy="1373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19"/>
              </a:lnSpc>
            </a:pPr>
            <a:r>
              <a:rPr lang="en-US" sz="7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Insights: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19225" y="1343296"/>
            <a:ext cx="5360837" cy="948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559"/>
              </a:lnSpc>
            </a:pPr>
            <a:r>
              <a:rPr lang="en-US" sz="5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Facility 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19225" y="2743835"/>
            <a:ext cx="10689786" cy="4199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Specialization Distribution: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Paediatrics (50%) and Dermatology (30%) dominate.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Oncology is underserved with only 2 doctors.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Top Treatment Types: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Chemotherapy (28) and MRI (27) are the most frequent treatments</a:t>
            </a:r>
          </a:p>
          <a:p>
            <a:pPr algn="just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2542507" y="1148845"/>
            <a:ext cx="5382069" cy="11973745"/>
          </a:xfrm>
          <a:custGeom>
            <a:avLst/>
            <a:gdLst/>
            <a:ahLst/>
            <a:cxnLst/>
            <a:rect l="l" t="t" r="r" b="b"/>
            <a:pathLst>
              <a:path w="5382069" h="11973745">
                <a:moveTo>
                  <a:pt x="0" y="0"/>
                </a:moveTo>
                <a:lnTo>
                  <a:pt x="5382069" y="0"/>
                </a:lnTo>
                <a:lnTo>
                  <a:pt x="5382069" y="11973745"/>
                </a:lnTo>
                <a:lnTo>
                  <a:pt x="0" y="119737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177007" y="1382822"/>
            <a:ext cx="1777054" cy="1444596"/>
          </a:xfrm>
          <a:custGeom>
            <a:avLst/>
            <a:gdLst/>
            <a:ahLst/>
            <a:cxnLst/>
            <a:rect l="l" t="t" r="r" b="b"/>
            <a:pathLst>
              <a:path w="1777054" h="1444596">
                <a:moveTo>
                  <a:pt x="0" y="0"/>
                </a:moveTo>
                <a:lnTo>
                  <a:pt x="1777053" y="0"/>
                </a:lnTo>
                <a:lnTo>
                  <a:pt x="1777053" y="1444596"/>
                </a:lnTo>
                <a:lnTo>
                  <a:pt x="0" y="14445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697050" y="1299474"/>
            <a:ext cx="2455053" cy="1397148"/>
          </a:xfrm>
          <a:custGeom>
            <a:avLst/>
            <a:gdLst/>
            <a:ahLst/>
            <a:cxnLst/>
            <a:rect l="l" t="t" r="r" b="b"/>
            <a:pathLst>
              <a:path w="2455053" h="1397148">
                <a:moveTo>
                  <a:pt x="0" y="0"/>
                </a:moveTo>
                <a:lnTo>
                  <a:pt x="2455052" y="0"/>
                </a:lnTo>
                <a:lnTo>
                  <a:pt x="2455052" y="1397148"/>
                </a:lnTo>
                <a:lnTo>
                  <a:pt x="0" y="13971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4000"/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545550" y="580754"/>
            <a:ext cx="1574250" cy="895891"/>
          </a:xfrm>
          <a:custGeom>
            <a:avLst/>
            <a:gdLst/>
            <a:ahLst/>
            <a:cxnLst/>
            <a:rect l="l" t="t" r="r" b="b"/>
            <a:pathLst>
              <a:path w="1574250" h="895891">
                <a:moveTo>
                  <a:pt x="0" y="0"/>
                </a:moveTo>
                <a:lnTo>
                  <a:pt x="1574250" y="0"/>
                </a:lnTo>
                <a:lnTo>
                  <a:pt x="1574250" y="895892"/>
                </a:lnTo>
                <a:lnTo>
                  <a:pt x="0" y="8958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4000"/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E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700000">
            <a:off x="-1655213" y="-695980"/>
            <a:ext cx="12808520" cy="10852310"/>
          </a:xfrm>
          <a:custGeom>
            <a:avLst/>
            <a:gdLst/>
            <a:ahLst/>
            <a:cxnLst/>
            <a:rect l="l" t="t" r="r" b="b"/>
            <a:pathLst>
              <a:path w="12808520" h="10852310">
                <a:moveTo>
                  <a:pt x="0" y="0"/>
                </a:moveTo>
                <a:lnTo>
                  <a:pt x="12808520" y="0"/>
                </a:lnTo>
                <a:lnTo>
                  <a:pt x="12808520" y="10852310"/>
                </a:lnTo>
                <a:lnTo>
                  <a:pt x="0" y="10852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727506">
            <a:off x="-3670274" y="-3072317"/>
            <a:ext cx="16838642" cy="12154438"/>
          </a:xfrm>
          <a:custGeom>
            <a:avLst/>
            <a:gdLst/>
            <a:ahLst/>
            <a:cxnLst/>
            <a:rect l="l" t="t" r="r" b="b"/>
            <a:pathLst>
              <a:path w="16838642" h="12154438">
                <a:moveTo>
                  <a:pt x="0" y="0"/>
                </a:moveTo>
                <a:lnTo>
                  <a:pt x="16838642" y="0"/>
                </a:lnTo>
                <a:lnTo>
                  <a:pt x="16838642" y="12154438"/>
                </a:lnTo>
                <a:lnTo>
                  <a:pt x="0" y="121544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5000"/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144000" y="610644"/>
            <a:ext cx="9144000" cy="9676356"/>
          </a:xfrm>
          <a:custGeom>
            <a:avLst/>
            <a:gdLst/>
            <a:ahLst/>
            <a:cxnLst/>
            <a:rect l="l" t="t" r="r" b="b"/>
            <a:pathLst>
              <a:path w="9144000" h="9676356">
                <a:moveTo>
                  <a:pt x="0" y="0"/>
                </a:moveTo>
                <a:lnTo>
                  <a:pt x="9144000" y="0"/>
                </a:lnTo>
                <a:lnTo>
                  <a:pt x="9144000" y="9676356"/>
                </a:lnTo>
                <a:lnTo>
                  <a:pt x="0" y="96763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520009" y="2767604"/>
            <a:ext cx="8725954" cy="4163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28"/>
              </a:lnSpc>
            </a:pPr>
            <a:r>
              <a:rPr lang="en-US" sz="15828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</a:t>
            </a:r>
          </a:p>
          <a:p>
            <a:pPr algn="l">
              <a:lnSpc>
                <a:spcPts val="15828"/>
              </a:lnSpc>
            </a:pPr>
            <a:r>
              <a:rPr lang="en-US" sz="15828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YOU</a:t>
            </a:r>
          </a:p>
        </p:txBody>
      </p:sp>
      <p:sp>
        <p:nvSpPr>
          <p:cNvPr id="6" name="Freeform 6"/>
          <p:cNvSpPr/>
          <p:nvPr/>
        </p:nvSpPr>
        <p:spPr>
          <a:xfrm>
            <a:off x="16051753" y="0"/>
            <a:ext cx="1874050" cy="1523446"/>
          </a:xfrm>
          <a:custGeom>
            <a:avLst/>
            <a:gdLst/>
            <a:ahLst/>
            <a:cxnLst/>
            <a:rect l="l" t="t" r="r" b="b"/>
            <a:pathLst>
              <a:path w="1874050" h="1523446">
                <a:moveTo>
                  <a:pt x="0" y="0"/>
                </a:moveTo>
                <a:lnTo>
                  <a:pt x="1874050" y="0"/>
                </a:lnTo>
                <a:lnTo>
                  <a:pt x="1874050" y="1523446"/>
                </a:lnTo>
                <a:lnTo>
                  <a:pt x="0" y="15234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521520" y="8559726"/>
            <a:ext cx="2455053" cy="1397148"/>
          </a:xfrm>
          <a:custGeom>
            <a:avLst/>
            <a:gdLst/>
            <a:ahLst/>
            <a:cxnLst/>
            <a:rect l="l" t="t" r="r" b="b"/>
            <a:pathLst>
              <a:path w="2455053" h="1397148">
                <a:moveTo>
                  <a:pt x="0" y="0"/>
                </a:moveTo>
                <a:lnTo>
                  <a:pt x="2455053" y="0"/>
                </a:lnTo>
                <a:lnTo>
                  <a:pt x="2455053" y="1397148"/>
                </a:lnTo>
                <a:lnTo>
                  <a:pt x="0" y="13971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4000"/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698277" y="330126"/>
            <a:ext cx="2455053" cy="1397148"/>
          </a:xfrm>
          <a:custGeom>
            <a:avLst/>
            <a:gdLst/>
            <a:ahLst/>
            <a:cxnLst/>
            <a:rect l="l" t="t" r="r" b="b"/>
            <a:pathLst>
              <a:path w="2455053" h="1397148">
                <a:moveTo>
                  <a:pt x="0" y="0"/>
                </a:moveTo>
                <a:lnTo>
                  <a:pt x="2455052" y="0"/>
                </a:lnTo>
                <a:lnTo>
                  <a:pt x="2455052" y="1397148"/>
                </a:lnTo>
                <a:lnTo>
                  <a:pt x="0" y="13971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4000"/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844633" y="9423826"/>
            <a:ext cx="1873333" cy="1066097"/>
          </a:xfrm>
          <a:custGeom>
            <a:avLst/>
            <a:gdLst/>
            <a:ahLst/>
            <a:cxnLst/>
            <a:rect l="l" t="t" r="r" b="b"/>
            <a:pathLst>
              <a:path w="1873333" h="1066097">
                <a:moveTo>
                  <a:pt x="0" y="0"/>
                </a:moveTo>
                <a:lnTo>
                  <a:pt x="1873333" y="0"/>
                </a:lnTo>
                <a:lnTo>
                  <a:pt x="1873333" y="1066096"/>
                </a:lnTo>
                <a:lnTo>
                  <a:pt x="0" y="10660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4000"/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626</Words>
  <Application>Microsoft Office PowerPoint</Application>
  <PresentationFormat>Custom</PresentationFormat>
  <Paragraphs>73</Paragraphs>
  <Slides>16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Arial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</dc:title>
  <cp:lastModifiedBy>Microsoft account</cp:lastModifiedBy>
  <cp:revision>2</cp:revision>
  <dcterms:created xsi:type="dcterms:W3CDTF">2006-08-16T00:00:00Z</dcterms:created>
  <dcterms:modified xsi:type="dcterms:W3CDTF">2025-09-20T17:26:50Z</dcterms:modified>
  <dc:identifier>DAGzJ-GSpzk</dc:identifier>
</cp:coreProperties>
</file>